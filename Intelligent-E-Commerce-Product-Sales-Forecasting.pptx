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embeddedFontLst>
    <p:embeddedFont>
      <p:font typeface="Consolas" panose="020B0609020204030204" pitchFamily="49" charset="0"/>
      <p:regular r:id="rId13"/>
      <p:bold r:id="rId14"/>
      <p:italic r:id="rId15"/>
      <p:boldItalic r:id="rId16"/>
    </p:embeddedFont>
    <p:embeddedFont>
      <p:font typeface="Lora" pitchFamily="2" charset="0"/>
      <p:regular r:id="rId17"/>
    </p:embeddedFont>
    <p:embeddedFont>
      <p:font typeface="Source Sans 3" panose="020B0604020202020204" charset="0"/>
      <p:regular r:id="rId18"/>
    </p:embeddedFont>
    <p:embeddedFont>
      <p:font typeface="Source Sans 3 Bold" panose="020B0604020202020204" charset="0"/>
      <p:regular r:id="rId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206908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2E4C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EF5E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svg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sv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svg"/><Relationship Id="rId5" Type="http://schemas.openxmlformats.org/officeDocument/2006/relationships/image" Target="../media/image13.svg"/><Relationship Id="rId4" Type="http://schemas.openxmlformats.org/officeDocument/2006/relationships/image" Target="../media/image12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577" y="1576313"/>
            <a:ext cx="4667845" cy="8800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Intelligent E-Commerce Product Sales Forecasting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523577" y="2680692"/>
            <a:ext cx="4667845" cy="886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 Machine Learning Approach to Demand Prediction</a:t>
            </a:r>
            <a:endParaRPr lang="en-US" sz="11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50" b="1" dirty="0">
                <a:solidFill>
                  <a:srgbClr val="3A363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Presenter</a:t>
            </a:r>
            <a:r>
              <a:rPr lang="en-US" sz="1150" b="1">
                <a:solidFill>
                  <a:srgbClr val="3A363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:</a:t>
            </a:r>
            <a:r>
              <a:rPr lang="en-US" sz="115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Mannat (</a:t>
            </a: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MCA Data Science)</a:t>
            </a:r>
            <a:endParaRPr lang="en-US" sz="11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50" b="1" dirty="0">
                <a:solidFill>
                  <a:srgbClr val="3A363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Institution:</a:t>
            </a: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Lovely Professional University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577" y="418356"/>
            <a:ext cx="4667845" cy="8112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5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Project Objective &amp; Business Problem</a:t>
            </a:r>
            <a:endParaRPr lang="en-US" sz="25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577" y="1420341"/>
            <a:ext cx="4667845" cy="101686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56717" y="1577280"/>
            <a:ext cx="4277767" cy="202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The Problem</a:t>
            </a:r>
            <a:endParaRPr lang="en-US" sz="1250" dirty="0"/>
          </a:p>
        </p:txBody>
      </p:sp>
      <p:sp>
        <p:nvSpPr>
          <p:cNvPr id="6" name="Text 2"/>
          <p:cNvSpPr/>
          <p:nvPr/>
        </p:nvSpPr>
        <p:spPr>
          <a:xfrm>
            <a:off x="756717" y="1856408"/>
            <a:ext cx="4277767" cy="4238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E-commerce platforms struggle with overstocking and understocking due to unpredictable consumer demand.</a:t>
            </a:r>
            <a:endParaRPr lang="en-US" sz="10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577" y="2564309"/>
            <a:ext cx="4667845" cy="1016868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56717" y="2721248"/>
            <a:ext cx="4277767" cy="202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The Solution</a:t>
            </a:r>
            <a:endParaRPr lang="en-US" sz="1250" dirty="0"/>
          </a:p>
        </p:txBody>
      </p:sp>
      <p:sp>
        <p:nvSpPr>
          <p:cNvPr id="9" name="Text 4"/>
          <p:cNvSpPr/>
          <p:nvPr/>
        </p:nvSpPr>
        <p:spPr>
          <a:xfrm>
            <a:off x="756717" y="3000375"/>
            <a:ext cx="4277767" cy="4238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Developing an automated, data-driven machine learning model to accurately forecast future product sales.</a:t>
            </a:r>
            <a:endParaRPr lang="en-US" sz="10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577" y="3708276"/>
            <a:ext cx="4667845" cy="101686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56717" y="3865215"/>
            <a:ext cx="4277767" cy="202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The Goal</a:t>
            </a:r>
            <a:endParaRPr lang="en-US" sz="1250" dirty="0"/>
          </a:p>
        </p:txBody>
      </p:sp>
      <p:sp>
        <p:nvSpPr>
          <p:cNvPr id="12" name="Text 6"/>
          <p:cNvSpPr/>
          <p:nvPr/>
        </p:nvSpPr>
        <p:spPr>
          <a:xfrm>
            <a:off x="756717" y="4144342"/>
            <a:ext cx="4277767" cy="4238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Optimize supply chain operations, reduce inventory costs, and ensure high-demand products remain in stock.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1383729"/>
            <a:ext cx="8096845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The Technology Stack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3577" y="2122959"/>
            <a:ext cx="374005" cy="37400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84585" y="2122959"/>
            <a:ext cx="3393877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Core Language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1084585" y="2432670"/>
            <a:ext cx="3393877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Python.</a:t>
            </a:r>
            <a:endParaRPr lang="en-US" sz="11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65464" y="2122959"/>
            <a:ext cx="374005" cy="37400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226472" y="2122959"/>
            <a:ext cx="3393951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Data Processing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5226472" y="2432670"/>
            <a:ext cx="3393951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Data manipulation utilizing pandas and numpy.</a:t>
            </a:r>
            <a:endParaRPr lang="en-US" sz="11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577" y="2971279"/>
            <a:ext cx="374005" cy="37400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84585" y="2971279"/>
            <a:ext cx="3393877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Machine Learning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1084585" y="3280990"/>
            <a:ext cx="3393877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Predictive modeling driven by the catboost algorithm.</a:t>
            </a:r>
            <a:endParaRPr lang="en-US" sz="11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65464" y="2971279"/>
            <a:ext cx="374005" cy="374005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5226472" y="2971279"/>
            <a:ext cx="3393951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Visualization</a:t>
            </a:r>
            <a:endParaRPr lang="en-US" sz="1350" dirty="0"/>
          </a:p>
        </p:txBody>
      </p:sp>
      <p:sp>
        <p:nvSpPr>
          <p:cNvPr id="14" name="Text 8"/>
          <p:cNvSpPr/>
          <p:nvPr/>
        </p:nvSpPr>
        <p:spPr>
          <a:xfrm>
            <a:off x="5226472" y="3280990"/>
            <a:ext cx="3393951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Advanced graphing and interactive plotting using matplotlib, plotly, and graphviz.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52577" y="680442"/>
            <a:ext cx="4667845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Why CatBoost?</a:t>
            </a:r>
            <a:endParaRPr lang="en-US" sz="2750" dirty="0"/>
          </a:p>
        </p:txBody>
      </p:sp>
      <p:sp>
        <p:nvSpPr>
          <p:cNvPr id="4" name="Shape 1"/>
          <p:cNvSpPr/>
          <p:nvPr/>
        </p:nvSpPr>
        <p:spPr>
          <a:xfrm>
            <a:off x="3952577" y="1344811"/>
            <a:ext cx="336575" cy="336575"/>
          </a:xfrm>
          <a:prstGeom prst="roundRect">
            <a:avLst>
              <a:gd name="adj" fmla="val 6668"/>
            </a:avLst>
          </a:prstGeom>
          <a:solidFill>
            <a:srgbClr val="F3E7D4"/>
          </a:solidFill>
          <a:ln/>
        </p:spPr>
      </p:sp>
      <p:sp>
        <p:nvSpPr>
          <p:cNvPr id="5" name="Text 2"/>
          <p:cNvSpPr/>
          <p:nvPr/>
        </p:nvSpPr>
        <p:spPr>
          <a:xfrm>
            <a:off x="4015234" y="1381051"/>
            <a:ext cx="211187" cy="264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1</a:t>
            </a:r>
            <a:endParaRPr lang="en-US" sz="1650" dirty="0"/>
          </a:p>
        </p:txBody>
      </p:sp>
      <p:sp>
        <p:nvSpPr>
          <p:cNvPr id="6" name="Text 3"/>
          <p:cNvSpPr/>
          <p:nvPr/>
        </p:nvSpPr>
        <p:spPr>
          <a:xfrm>
            <a:off x="4438724" y="1396231"/>
            <a:ext cx="4181698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Highly Efficient Gradient Boosting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438724" y="1705942"/>
            <a:ext cx="4181698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CatBoost (Categorical Boosting) is a highly efficient, open-source gradient boosting algorithm.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3952577" y="2483941"/>
            <a:ext cx="336575" cy="336575"/>
          </a:xfrm>
          <a:prstGeom prst="roundRect">
            <a:avLst>
              <a:gd name="adj" fmla="val 6668"/>
            </a:avLst>
          </a:prstGeom>
          <a:solidFill>
            <a:srgbClr val="F3E7D4"/>
          </a:solidFill>
          <a:ln/>
        </p:spPr>
      </p:sp>
      <p:sp>
        <p:nvSpPr>
          <p:cNvPr id="9" name="Text 6"/>
          <p:cNvSpPr/>
          <p:nvPr/>
        </p:nvSpPr>
        <p:spPr>
          <a:xfrm>
            <a:off x="4015234" y="2520181"/>
            <a:ext cx="211187" cy="264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2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4438724" y="2535362"/>
            <a:ext cx="4181698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Native Categorical Handling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4438724" y="2845073"/>
            <a:ext cx="4181698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It natively handles categorical variables without requiring extensive data preprocessing like one-hot encoding.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3952577" y="3623072"/>
            <a:ext cx="336575" cy="336575"/>
          </a:xfrm>
          <a:prstGeom prst="roundRect">
            <a:avLst>
              <a:gd name="adj" fmla="val 6668"/>
            </a:avLst>
          </a:prstGeom>
          <a:solidFill>
            <a:srgbClr val="F3E7D4"/>
          </a:solidFill>
          <a:ln/>
        </p:spPr>
      </p:sp>
      <p:sp>
        <p:nvSpPr>
          <p:cNvPr id="13" name="Text 10"/>
          <p:cNvSpPr/>
          <p:nvPr/>
        </p:nvSpPr>
        <p:spPr>
          <a:xfrm>
            <a:off x="4015234" y="3659312"/>
            <a:ext cx="211187" cy="264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3</a:t>
            </a:r>
            <a:endParaRPr lang="en-US" sz="1650" dirty="0"/>
          </a:p>
        </p:txBody>
      </p:sp>
      <p:sp>
        <p:nvSpPr>
          <p:cNvPr id="14" name="Text 11"/>
          <p:cNvSpPr/>
          <p:nvPr/>
        </p:nvSpPr>
        <p:spPr>
          <a:xfrm>
            <a:off x="4438724" y="3674492"/>
            <a:ext cx="4181698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Symmetric Trees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4438724" y="3984203"/>
            <a:ext cx="4181698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It utilizes symmetric trees to prevent overfitting and improve prediction speed.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1211535"/>
            <a:ext cx="8096845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Model Training &amp; Experimentation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523577" y="1950765"/>
            <a:ext cx="299219" cy="1870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01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23577" y="2185988"/>
            <a:ext cx="2599209" cy="19050"/>
          </a:xfrm>
          <a:prstGeom prst="rect">
            <a:avLst/>
          </a:prstGeom>
          <a:solidFill>
            <a:srgbClr val="38512F"/>
          </a:solidFill>
          <a:ln/>
        </p:spPr>
      </p:sp>
      <p:sp>
        <p:nvSpPr>
          <p:cNvPr id="5" name="Text 3"/>
          <p:cNvSpPr/>
          <p:nvPr/>
        </p:nvSpPr>
        <p:spPr>
          <a:xfrm>
            <a:off x="523577" y="2298874"/>
            <a:ext cx="2599209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Iterative Experiments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23577" y="2608585"/>
            <a:ext cx="2599209" cy="12112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Multiple iterative experiments were conducted, tracking different feature sets, including the baseline ProductSalesModel and iterations like </a:t>
            </a:r>
            <a:r>
              <a:rPr lang="en-US" sz="1150" dirty="0">
                <a:solidFill>
                  <a:srgbClr val="3A3630"/>
                </a:solidFill>
                <a:highlight>
                  <a:srgbClr val="F1E8D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new_features_1</a:t>
            </a: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272358" y="1950765"/>
            <a:ext cx="299219" cy="1870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02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272358" y="2185988"/>
            <a:ext cx="2599209" cy="19050"/>
          </a:xfrm>
          <a:prstGeom prst="rect">
            <a:avLst/>
          </a:prstGeom>
          <a:solidFill>
            <a:srgbClr val="38512F"/>
          </a:solidFill>
          <a:ln/>
        </p:spPr>
      </p:sp>
      <p:sp>
        <p:nvSpPr>
          <p:cNvPr id="9" name="Text 7"/>
          <p:cNvSpPr/>
          <p:nvPr/>
        </p:nvSpPr>
        <p:spPr>
          <a:xfrm>
            <a:off x="3272358" y="2298874"/>
            <a:ext cx="2599209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Training Cycles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3272358" y="2608585"/>
            <a:ext cx="2599209" cy="718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models were configured to train over extensive cycles, specifically utilizing 500 to 1000 total iterations.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021139" y="1950765"/>
            <a:ext cx="299219" cy="1870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03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021139" y="2185988"/>
            <a:ext cx="2599283" cy="19050"/>
          </a:xfrm>
          <a:prstGeom prst="rect">
            <a:avLst/>
          </a:prstGeom>
          <a:solidFill>
            <a:srgbClr val="38512F"/>
          </a:solidFill>
          <a:ln/>
        </p:spPr>
      </p:sp>
      <p:sp>
        <p:nvSpPr>
          <p:cNvPr id="13" name="Text 11"/>
          <p:cNvSpPr/>
          <p:nvPr/>
        </p:nvSpPr>
        <p:spPr>
          <a:xfrm>
            <a:off x="6021139" y="2298874"/>
            <a:ext cx="2599283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Continuous Monitoring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021139" y="2608585"/>
            <a:ext cx="2599283" cy="957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Training involved continuous monitoring of learning rates and elapsed time to balance accuracy with computational efficiency.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1366614"/>
            <a:ext cx="8096845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Evaluation Metric (RMSE)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415900" y="2030983"/>
            <a:ext cx="4081314" cy="1745903"/>
          </a:xfrm>
          <a:prstGeom prst="roundRect">
            <a:avLst>
              <a:gd name="adj" fmla="val 1285"/>
            </a:avLst>
          </a:prstGeom>
          <a:solidFill>
            <a:srgbClr val="3371A5"/>
          </a:solidFill>
          <a:ln/>
        </p:spPr>
      </p:sp>
      <p:sp>
        <p:nvSpPr>
          <p:cNvPr id="4" name="Text 2"/>
          <p:cNvSpPr/>
          <p:nvPr/>
        </p:nvSpPr>
        <p:spPr>
          <a:xfrm>
            <a:off x="565472" y="2180555"/>
            <a:ext cx="3782169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What is RMSE?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65472" y="2550096"/>
            <a:ext cx="3782169" cy="1092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1050"/>
              </a:spcAft>
              <a:buNone/>
            </a:pPr>
            <a:r>
              <a:rPr lang="en-US" sz="115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primary evaluation metric utilized for optimizing the model was Root Mean Squared Error (RMSE).</a:t>
            </a:r>
            <a:endParaRPr lang="en-US" sz="11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RMSE was strictly monitored across both the learning sets and the testing sets.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4759226" y="2180555"/>
            <a:ext cx="3865959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Results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759226" y="2550096"/>
            <a:ext cx="3865959" cy="718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Across the experiments, the model demonstrated strong convergence, achieving test RMSE scores in the </a:t>
            </a:r>
            <a:r>
              <a:rPr lang="en-US" sz="1150" b="1" dirty="0">
                <a:solidFill>
                  <a:srgbClr val="3A363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~35.7 to ~38.6 range</a:t>
            </a: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, indicating reliable prediction accuracy.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577" y="418356"/>
            <a:ext cx="4667845" cy="8112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5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Explainable AI (XAI) Integration</a:t>
            </a:r>
            <a:endParaRPr lang="en-US" sz="25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577" y="1420341"/>
            <a:ext cx="4667845" cy="101686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56717" y="1577280"/>
            <a:ext cx="4277767" cy="202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The Challenge</a:t>
            </a:r>
            <a:endParaRPr lang="en-US" sz="1250" dirty="0"/>
          </a:p>
        </p:txBody>
      </p:sp>
      <p:sp>
        <p:nvSpPr>
          <p:cNvPr id="6" name="Text 2"/>
          <p:cNvSpPr/>
          <p:nvPr/>
        </p:nvSpPr>
        <p:spPr>
          <a:xfrm>
            <a:off x="756717" y="1856408"/>
            <a:ext cx="4277767" cy="4238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Machine learning models are often "black boxes," but this project prioritizes transparency.</a:t>
            </a:r>
            <a:endParaRPr lang="en-US" sz="10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577" y="2564309"/>
            <a:ext cx="4667845" cy="1016868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56717" y="2721248"/>
            <a:ext cx="4277767" cy="202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The Pipeline</a:t>
            </a:r>
            <a:endParaRPr lang="en-US" sz="1250" dirty="0"/>
          </a:p>
        </p:txBody>
      </p:sp>
      <p:sp>
        <p:nvSpPr>
          <p:cNvPr id="9" name="Text 4"/>
          <p:cNvSpPr/>
          <p:nvPr/>
        </p:nvSpPr>
        <p:spPr>
          <a:xfrm>
            <a:off x="756717" y="3000375"/>
            <a:ext cx="4277767" cy="4238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pipeline integrates an AdditiveForceVisualizer to break down how individual features influence the final prediction.</a:t>
            </a:r>
            <a:endParaRPr lang="en-US" sz="10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577" y="3708276"/>
            <a:ext cx="4667845" cy="101686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56717" y="3865215"/>
            <a:ext cx="4277767" cy="202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Stakeholder Visibility</a:t>
            </a:r>
            <a:endParaRPr lang="en-US" sz="1250" dirty="0"/>
          </a:p>
        </p:txBody>
      </p:sp>
      <p:sp>
        <p:nvSpPr>
          <p:cNvPr id="12" name="Text 6"/>
          <p:cNvSpPr/>
          <p:nvPr/>
        </p:nvSpPr>
        <p:spPr>
          <a:xfrm>
            <a:off x="756717" y="4144342"/>
            <a:ext cx="4277767" cy="4238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This allows stakeholders to see exactly which variables are driving sales up or down for any given product.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1299195"/>
            <a:ext cx="8096845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Interactive Feature Visualization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523577" y="2038424"/>
            <a:ext cx="2599209" cy="1805806"/>
          </a:xfrm>
          <a:prstGeom prst="roundRect">
            <a:avLst>
              <a:gd name="adj" fmla="val 1243"/>
            </a:avLst>
          </a:prstGeom>
          <a:solidFill>
            <a:srgbClr val="F3E7D4"/>
          </a:solidFill>
          <a:ln/>
        </p:spPr>
      </p:sp>
      <p:sp>
        <p:nvSpPr>
          <p:cNvPr id="4" name="Text 2"/>
          <p:cNvSpPr/>
          <p:nvPr/>
        </p:nvSpPr>
        <p:spPr>
          <a:xfrm>
            <a:off x="673150" y="2187997"/>
            <a:ext cx="2300064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Feature Effects Mapping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73150" y="2497708"/>
            <a:ext cx="2300064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visualizer maps feature effects against a centralized base value.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272358" y="2038424"/>
            <a:ext cx="2599209" cy="1805806"/>
          </a:xfrm>
          <a:prstGeom prst="roundRect">
            <a:avLst>
              <a:gd name="adj" fmla="val 1243"/>
            </a:avLst>
          </a:prstGeom>
          <a:solidFill>
            <a:srgbClr val="F3E7D4"/>
          </a:solidFill>
          <a:ln/>
        </p:spPr>
      </p:sp>
      <p:sp>
        <p:nvSpPr>
          <p:cNvPr id="7" name="Text 5"/>
          <p:cNvSpPr/>
          <p:nvPr/>
        </p:nvSpPr>
        <p:spPr>
          <a:xfrm>
            <a:off x="3421931" y="2187997"/>
            <a:ext cx="2300064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Contrasting Color Maps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421931" y="2497708"/>
            <a:ext cx="2300064" cy="1196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It utilizes contrasting color maps (such as Red/Blue distributions) to clearly delineate positive and negative impacts on the sales forecast.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021139" y="2038424"/>
            <a:ext cx="2599283" cy="1805806"/>
          </a:xfrm>
          <a:prstGeom prst="roundRect">
            <a:avLst>
              <a:gd name="adj" fmla="val 1243"/>
            </a:avLst>
          </a:prstGeom>
          <a:solidFill>
            <a:srgbClr val="F3E7D4"/>
          </a:solidFill>
          <a:ln/>
        </p:spPr>
      </p:sp>
      <p:sp>
        <p:nvSpPr>
          <p:cNvPr id="10" name="Text 8"/>
          <p:cNvSpPr/>
          <p:nvPr/>
        </p:nvSpPr>
        <p:spPr>
          <a:xfrm>
            <a:off x="6170712" y="2187997"/>
            <a:ext cx="2300139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Dynamic Scaling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170712" y="2497708"/>
            <a:ext cx="2300139" cy="957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custom interface scales dynamically, providing precise numeric formatting for the effect of each feature.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52577" y="423044"/>
            <a:ext cx="4667845" cy="3918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5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Business Value &amp; Application</a:t>
            </a:r>
            <a:endParaRPr lang="en-US" sz="24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52577" y="992907"/>
            <a:ext cx="333077" cy="333077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3952577" y="1474291"/>
            <a:ext cx="4667845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Proactive Planning</a:t>
            </a:r>
            <a:endParaRPr lang="en-US" sz="1200" dirty="0"/>
          </a:p>
        </p:txBody>
      </p:sp>
      <p:sp>
        <p:nvSpPr>
          <p:cNvPr id="6" name="Text 2"/>
          <p:cNvSpPr/>
          <p:nvPr/>
        </p:nvSpPr>
        <p:spPr>
          <a:xfrm>
            <a:off x="3952577" y="1741363"/>
            <a:ext cx="4667845" cy="403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Allows warehouse managers to adjust stock levels weeks in advance based on the AI's numerical outputs.</a:t>
            </a:r>
            <a:endParaRPr lang="en-US" sz="10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52577" y="2381696"/>
            <a:ext cx="333077" cy="333077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3952577" y="2863081"/>
            <a:ext cx="4667845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Marketing Alignment</a:t>
            </a:r>
            <a:endParaRPr lang="en-US" sz="1200" dirty="0"/>
          </a:p>
        </p:txBody>
      </p:sp>
      <p:sp>
        <p:nvSpPr>
          <p:cNvPr id="9" name="Text 4"/>
          <p:cNvSpPr/>
          <p:nvPr/>
        </p:nvSpPr>
        <p:spPr>
          <a:xfrm>
            <a:off x="3952577" y="3130153"/>
            <a:ext cx="4667845" cy="403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Helps teams understand which specific features (identified by the force visualizer) are correlating with sales spikes.</a:t>
            </a:r>
            <a:endParaRPr lang="en-US" sz="10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952577" y="3770486"/>
            <a:ext cx="333077" cy="333077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3952577" y="4251871"/>
            <a:ext cx="4667845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Scalability</a:t>
            </a:r>
            <a:endParaRPr lang="en-US" sz="1200" dirty="0"/>
          </a:p>
        </p:txBody>
      </p:sp>
      <p:sp>
        <p:nvSpPr>
          <p:cNvPr id="12" name="Text 6"/>
          <p:cNvSpPr/>
          <p:nvPr/>
        </p:nvSpPr>
        <p:spPr>
          <a:xfrm>
            <a:off x="3952577" y="4518943"/>
            <a:ext cx="4667845" cy="201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pipeline can be scaled across thousands of unique stock codes.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921395"/>
            <a:ext cx="8096845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Conclusion &amp; Q&amp;A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3577" y="1660624"/>
            <a:ext cx="3973637" cy="179486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420578" y="1772841"/>
            <a:ext cx="179487" cy="2243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1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692200" y="2258988"/>
            <a:ext cx="3636392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Accurate &amp; Scalable Framework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692200" y="2568699"/>
            <a:ext cx="3636392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CatBoost provides a highly accurate and scalable framework for e-commerce forecasting.</a:t>
            </a:r>
            <a:endParaRPr lang="en-US" sz="11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46786" y="1660624"/>
            <a:ext cx="3973637" cy="179486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543787" y="1772841"/>
            <a:ext cx="179487" cy="2243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4815408" y="2258988"/>
            <a:ext cx="3636392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Bridging the Gap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4815408" y="2568699"/>
            <a:ext cx="3636392" cy="718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Integrating force visualization bridges the gap between complex mathematical outputs and actionable business insights.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523577" y="3623742"/>
            <a:ext cx="8096845" cy="598289"/>
          </a:xfrm>
          <a:prstGeom prst="roundRect">
            <a:avLst>
              <a:gd name="adj" fmla="val 3751"/>
            </a:avLst>
          </a:prstGeom>
          <a:solidFill>
            <a:srgbClr val="E2ECDF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50" y="3841700"/>
            <a:ext cx="187003" cy="14957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09724" y="3810670"/>
            <a:ext cx="7918326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Questions?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554</Words>
  <Application>Microsoft Office PowerPoint</Application>
  <PresentationFormat>On-screen Show (16:9)</PresentationFormat>
  <Paragraphs>85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Source Sans 3</vt:lpstr>
      <vt:lpstr>Lora</vt:lpstr>
      <vt:lpstr>Source Sans 3 Bold</vt:lpstr>
      <vt:lpstr>Consolas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HP</dc:creator>
  <cp:lastModifiedBy>mannat gupta</cp:lastModifiedBy>
  <cp:revision>2</cp:revision>
  <dcterms:created xsi:type="dcterms:W3CDTF">2026-07-20T19:34:59Z</dcterms:created>
  <dcterms:modified xsi:type="dcterms:W3CDTF">2026-07-20T20:23:00Z</dcterms:modified>
</cp:coreProperties>
</file>